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Lateef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Latee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Latee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Latee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Latee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Latee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Lateef"/>
              </a:defRPr>
            </a:lvl1pPr>
          </a:lstStyle>
          <a:p>
            <a:pPr indent="0" algn="r">
              <a:buNone/>
            </a:pPr>
            <a:fld id="{2BC18E1E-CAA2-4096-805C-A4F364353D2D}" type="slidenum">
              <a:rPr b="0" lang="en-US" sz="1400" strike="noStrike" u="none">
                <a:solidFill>
                  <a:srgbClr val="000000"/>
                </a:solidFill>
                <a:uFillTx/>
                <a:latin typeface="Latee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3A0839-642E-4746-A6BF-7B6C43650B3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C12A04-6412-442D-A727-BDFC7CCB798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304505-D36A-4A5F-A608-9DE648D711C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741D79-941D-4CFC-88C0-C04F685A456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258E2-FFAE-43BA-B062-454554FD478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36EE5C-C7DE-4006-A9D3-95350DA6098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ABC19B-8D5A-47F8-8BDF-A7AACF9A3D8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32FE1C-336B-4831-99A2-AADC8EFF84F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DBED5-B4F6-472F-B81D-60FFAE360D4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3036F2-8EC6-4249-A014-CEEA2A3A393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035040" y="-1097280"/>
            <a:ext cx="4571640" cy="4571640"/>
          </a:xfrm>
          <a:prstGeom prst="ellipse">
            <a:avLst/>
          </a:prstGeom>
          <a:solidFill>
            <a:srgbClr val="2dd4bf">
              <a:alpha val="15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315200" y="2377440"/>
            <a:ext cx="3108600" cy="3108600"/>
          </a:xfrm>
          <a:prstGeom prst="ellipse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548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PYTHON PROJECT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1005840"/>
            <a:ext cx="6400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Simple Personal Expense Tracker</a:t>
            </a:r>
            <a:endParaRPr b="0" lang="en-US" sz="42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40080" y="2514600"/>
            <a:ext cx="1005480" cy="63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2788920"/>
            <a:ext cx="60346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94a3b8"/>
                </a:solidFill>
                <a:uFillTx/>
                <a:latin typeface="Calibri"/>
                <a:ea typeface="Calibri"/>
              </a:rPr>
              <a:t>A small program that runs in the terminal and helps you record your income and expenses, set a monthly budget, and see a report with a simple chart. It warns you when you spend too much, and saves everything in one small file, so it is fast and easy to use.</a:t>
            </a:r>
            <a:endParaRPr b="0" lang="en-US" sz="17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02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Why We Built This Tool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48640" y="164592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731520" y="1828800"/>
            <a:ext cx="456840" cy="63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20" name="Text 6"/>
          <p:cNvSpPr/>
          <p:nvPr/>
        </p:nvSpPr>
        <p:spPr>
          <a:xfrm>
            <a:off x="731520" y="196596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dd4bf"/>
                </a:solidFill>
                <a:uFillTx/>
                <a:latin typeface="Calibri"/>
                <a:ea typeface="Calibri"/>
              </a:rPr>
              <a:t>The Problem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21" name="Text 7"/>
          <p:cNvSpPr/>
          <p:nvPr/>
        </p:nvSpPr>
        <p:spPr>
          <a:xfrm>
            <a:off x="731520" y="242316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Tracking daily money by hand is hard and easy to forget.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4686480" y="164592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4869360" y="1828800"/>
            <a:ext cx="456840" cy="63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869360" y="196596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Existing Software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869360" y="242316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Traditional apps are heavy and slow to open.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548640" y="315468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731520" y="3337560"/>
            <a:ext cx="456840" cy="63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731520" y="347472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a78bfa"/>
                </a:solidFill>
                <a:uFillTx/>
                <a:latin typeface="Calibri"/>
                <a:ea typeface="Calibri"/>
              </a:rPr>
              <a:t>Our Solution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731520" y="393192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Fast, and runs directly inside the terminal.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4686480" y="315468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4869360" y="3337560"/>
            <a:ext cx="456840" cy="63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4869360" y="347472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b7185"/>
                </a:solidFill>
                <a:uFillTx/>
                <a:latin typeface="Calibri"/>
                <a:ea typeface="Calibri"/>
              </a:rPr>
              <a:t>Smart Alerts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4869360" y="393192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Warns you if you spend more than your budget limit.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03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36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What the Program Can Do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548640" y="1600200"/>
            <a:ext cx="804636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548640" y="1673280"/>
            <a:ext cx="63720" cy="356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40" name="Text 6"/>
          <p:cNvSpPr/>
          <p:nvPr/>
        </p:nvSpPr>
        <p:spPr>
          <a:xfrm>
            <a:off x="777240" y="16002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dd4bf"/>
                </a:solidFill>
                <a:uFillTx/>
                <a:latin typeface="Consolas"/>
                <a:ea typeface="Consolas"/>
              </a:rPr>
              <a:t>add-income</a:t>
            </a:r>
            <a:endParaRPr b="0" lang="en-US" sz="15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41" name="Text 7"/>
          <p:cNvSpPr/>
          <p:nvPr/>
        </p:nvSpPr>
        <p:spPr>
          <a:xfrm>
            <a:off x="2834640" y="160020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Record money you receive (source, amount, date).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548640" y="2194560"/>
            <a:ext cx="804636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548640" y="2267640"/>
            <a:ext cx="63720" cy="356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777240" y="21945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bbf24"/>
                </a:solidFill>
                <a:uFillTx/>
                <a:latin typeface="Consolas"/>
                <a:ea typeface="Consolas"/>
              </a:rPr>
              <a:t>add-expense</a:t>
            </a:r>
            <a:endParaRPr b="0" lang="en-US" sz="15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2834640" y="219456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Record money you spend (category, amount, date).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548640" y="2788920"/>
            <a:ext cx="804636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548640" y="2862000"/>
            <a:ext cx="63720" cy="356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777240" y="27889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a78bfa"/>
                </a:solidFill>
                <a:uFillTx/>
                <a:latin typeface="Consolas"/>
                <a:ea typeface="Consolas"/>
              </a:rPr>
              <a:t>set-budget</a:t>
            </a:r>
            <a:endParaRPr b="0" lang="en-US" sz="15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2834640" y="278892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Set a monthly limit. Alerts appear when you pass it.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548640" y="3383280"/>
            <a:ext cx="804636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548640" y="3456360"/>
            <a:ext cx="63720" cy="3564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777240" y="33832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b7185"/>
                </a:solidFill>
                <a:uFillTx/>
                <a:latin typeface="Consolas"/>
                <a:ea typeface="Consolas"/>
              </a:rPr>
              <a:t>report</a:t>
            </a:r>
            <a:endParaRPr b="0" lang="en-US" sz="15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2834640" y="338328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Totals, remaining cash, and a chart of spending.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54" name="Shape 20"/>
          <p:cNvSpPr/>
          <p:nvPr/>
        </p:nvSpPr>
        <p:spPr>
          <a:xfrm>
            <a:off x="548640" y="3977640"/>
            <a:ext cx="804636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55" name="Shape 21"/>
          <p:cNvSpPr/>
          <p:nvPr/>
        </p:nvSpPr>
        <p:spPr>
          <a:xfrm>
            <a:off x="548640" y="4050720"/>
            <a:ext cx="63720" cy="356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777240" y="39776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dd4bf"/>
                </a:solidFill>
                <a:uFillTx/>
                <a:latin typeface="Consolas"/>
                <a:ea typeface="Consolas"/>
              </a:rPr>
              <a:t>delete</a:t>
            </a:r>
            <a:endParaRPr b="0" lang="en-US" sz="15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2834640" y="397764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Remove a wrong record by its number.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04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60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How the Code Works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548640" y="1645920"/>
            <a:ext cx="2529360" cy="19198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731520" y="1828800"/>
            <a:ext cx="456840" cy="63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64" name="Text 6"/>
          <p:cNvSpPr/>
          <p:nvPr/>
        </p:nvSpPr>
        <p:spPr>
          <a:xfrm>
            <a:off x="731520" y="1965960"/>
            <a:ext cx="2163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dd4bf"/>
                </a:solidFill>
                <a:uFillTx/>
                <a:latin typeface="Calibri"/>
                <a:ea typeface="Calibri"/>
              </a:rPr>
              <a:t>CLI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65" name="Text 7"/>
          <p:cNvSpPr/>
          <p:nvPr/>
        </p:nvSpPr>
        <p:spPr>
          <a:xfrm>
            <a:off x="731520" y="2423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Python built-in argparse reads the user commands.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3306960" y="1645920"/>
            <a:ext cx="2529360" cy="19198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3489840" y="1828800"/>
            <a:ext cx="456840" cy="63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3489840" y="1965960"/>
            <a:ext cx="2163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Storage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3489840" y="2423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Income, expenses and budget are saved in one local JSON file.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6065640" y="1645920"/>
            <a:ext cx="2529360" cy="191988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6248520" y="1828800"/>
            <a:ext cx="456840" cy="63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6248520" y="1965960"/>
            <a:ext cx="2163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a78bfa"/>
                </a:solidFill>
                <a:uFillTx/>
                <a:latin typeface="Calibri"/>
                <a:ea typeface="Calibri"/>
              </a:rPr>
              <a:t>Reports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6248520" y="2423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Totals are calculated automatically; simple charts use character bars.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548640" y="420624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dd4bf"/>
                </a:solidFill>
                <a:uFillTx/>
                <a:latin typeface="Consolas"/>
                <a:ea typeface="Consolas"/>
              </a:rPr>
              <a:t>load_data  ·  save_data  ·  add-income  ·  add-expense  ·  set-budget  ·  report  ·  delete</a:t>
            </a:r>
            <a:endParaRPr b="0" lang="en-US" sz="12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05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Code: Loading and Saving Data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548640" y="1554480"/>
            <a:ext cx="5211720" cy="3017160"/>
          </a:xfrm>
          <a:prstGeom prst="roundRect">
            <a:avLst>
              <a:gd name="adj" fmla="val 3030"/>
            </a:avLst>
          </a:prstGeom>
          <a:solidFill>
            <a:srgbClr val="020617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731520" y="1664280"/>
            <a:ext cx="109440" cy="10944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914400" y="1664280"/>
            <a:ext cx="109440" cy="109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1097280" y="1664280"/>
            <a:ext cx="109440" cy="109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83" name="Text 8"/>
          <p:cNvSpPr/>
          <p:nvPr/>
        </p:nvSpPr>
        <p:spPr>
          <a:xfrm>
            <a:off x="731520" y="1874520"/>
            <a:ext cx="493740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def load_data():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if os.path.exists(DATA_FILE):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try: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with open(DATA_FILE, "r") as f: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return json.load(f)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except json.JSONDecodeError: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print("Error: file is corrupted.")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return {"income": [], "expenses": [], "budget": 0}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def save_data(data):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try: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with open(DATA_FILE, "w") as f: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json.dump(data, f, indent=4)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except IOError: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print("Error: Could not save data.")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5989320" y="1554480"/>
            <a:ext cx="365400" cy="3654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5989320" y="15544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1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6492240" y="150876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If the file exists, read it with json.load.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5989320" y="2331720"/>
            <a:ext cx="365400" cy="3654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5989320" y="2331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2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6492240" y="228600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If it is broken, start a new empty database.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5989320" y="3108960"/>
            <a:ext cx="365400" cy="365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5989320" y="31089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3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649224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New database: income, expenses, budget = 0.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5989320" y="3886200"/>
            <a:ext cx="365400" cy="3654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5989320" y="3886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4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6492240" y="38404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save_data writes everything back to the file.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06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Code: Add Expense and Budget Alert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548640" y="1554480"/>
            <a:ext cx="5211720" cy="3017160"/>
          </a:xfrm>
          <a:prstGeom prst="roundRect">
            <a:avLst>
              <a:gd name="adj" fmla="val 3030"/>
            </a:avLst>
          </a:prstGeom>
          <a:solidFill>
            <a:srgbClr val="020617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731520" y="1664280"/>
            <a:ext cx="109440" cy="10944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914400" y="1664280"/>
            <a:ext cx="109440" cy="109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1097280" y="1664280"/>
            <a:ext cx="109440" cy="109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731520" y="1874520"/>
            <a:ext cx="493740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elif args.command == "add-expense":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total_expense = sum(item["amount"]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for item in data["expenses"]) + args.amount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data["expenses"].append({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"category": args.category,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"amount": args.amount,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"date": args.date})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save_data(data)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if data["budget"] &gt; 0: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if total_expense &gt; data["budget"]: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print("CRITICAL ALERT: budget exceeded!")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elif total_expense &gt;= data["budget"] * 0.8: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    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print("BUDGET WARNING: over 80% spent")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5989320" y="1554480"/>
            <a:ext cx="365400" cy="3654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5989320" y="15544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1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6492240" y="150876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Calculate the new total of all expenses.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5989320" y="2331720"/>
            <a:ext cx="365400" cy="3654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5989320" y="2331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2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6492240" y="228600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Add the expense to the list and save.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1" name="Shape 15"/>
          <p:cNvSpPr/>
          <p:nvPr/>
        </p:nvSpPr>
        <p:spPr>
          <a:xfrm>
            <a:off x="5989320" y="3108960"/>
            <a:ext cx="365400" cy="365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5989320" y="31089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3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649224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If a budget is set, compare it with the total.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5989320" y="3886200"/>
            <a:ext cx="365400" cy="3654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5989320" y="3886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4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6492240" y="38404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Over 100%: critical alert. Over 80%: warning.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07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Code: Report and Character Chart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548640" y="1554480"/>
            <a:ext cx="5211720" cy="3017160"/>
          </a:xfrm>
          <a:prstGeom prst="roundRect">
            <a:avLst>
              <a:gd name="adj" fmla="val 3030"/>
            </a:avLst>
          </a:prstGeom>
          <a:solidFill>
            <a:srgbClr val="020617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731520" y="1664280"/>
            <a:ext cx="109440" cy="10944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914400" y="1664280"/>
            <a:ext cx="109440" cy="109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1097280" y="1664280"/>
            <a:ext cx="109440" cy="109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731520" y="1874520"/>
            <a:ext cx="493740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categories = {}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for exp in data["expenses"]: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cat = exp["category"]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categories[cat] = categories.get(cat, 0) + exp["amount"]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for cat, amount in categories.items():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percentage = (amount / total_expense) * 100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bar = "#" * int(percentage // 5)</a:t>
            </a:r>
            <a:r>
              <a:rPr b="0" i="1" lang="en-US" sz="1050" strike="noStrike" u="none">
                <a:solidFill>
                  <a:srgbClr val="6ee7b7"/>
                </a:solidFill>
                <a:uFillTx/>
                <a:latin typeface="Consolas"/>
                <a:ea typeface="Consolas"/>
              </a:rPr>
              <a:t>  # 1 # = 5%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    </a:t>
            </a: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print(f"[{cat:&lt;12}] ${amount:&gt;6.2f} | {bar}")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# Example output: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# [Food        ] $150.00 | ########## (50.0%)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8fafc"/>
                </a:solidFill>
                <a:uFillTx/>
                <a:latin typeface="Consolas"/>
                <a:ea typeface="Consolas"/>
              </a:rPr>
              <a:t># [Rent        ] $150.00 | ########## (50.0%)</a:t>
            </a:r>
            <a:endParaRPr b="0" lang="en-US" sz="10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5989320" y="1554480"/>
            <a:ext cx="365400" cy="3654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5989320" y="15544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1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6492240" y="150876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Add up the spending of each category.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29" name="Shape 12"/>
          <p:cNvSpPr/>
          <p:nvPr/>
        </p:nvSpPr>
        <p:spPr>
          <a:xfrm>
            <a:off x="5989320" y="2331720"/>
            <a:ext cx="365400" cy="3654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5989320" y="2331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2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6492240" y="228600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Find each category's percentage of the total.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32" name="Shape 15"/>
          <p:cNvSpPr/>
          <p:nvPr/>
        </p:nvSpPr>
        <p:spPr>
          <a:xfrm>
            <a:off x="5989320" y="3108960"/>
            <a:ext cx="365400" cy="3654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5989320" y="31089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3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649224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Draw one # for every 5 percent.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5989320" y="3886200"/>
            <a:ext cx="365400" cy="3654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5989320" y="3886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uFillTx/>
                <a:latin typeface="Calibri"/>
                <a:ea typeface="Calibri"/>
              </a:rPr>
              <a:t>4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6492240" y="38404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Print the name, amount, and the bar.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08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Keeping the Program Safe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548640" y="164592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731520" y="1828800"/>
            <a:ext cx="456840" cy="63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731520" y="196596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dd4bf"/>
                </a:solidFill>
                <a:uFillTx/>
                <a:latin typeface="Calibri"/>
                <a:ea typeface="Calibri"/>
              </a:rPr>
              <a:t>Corrupted File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731520" y="242316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If the JSON file is broken, a new empty database is created.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4686480" y="164592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4869360" y="1828800"/>
            <a:ext cx="456840" cy="63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4869360" y="196596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Positive Amounts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4869360" y="242316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Zero or negative amounts are rejected.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548640" y="315468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731520" y="3337560"/>
            <a:ext cx="456840" cy="63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731520" y="347472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a78bfa"/>
                </a:solidFill>
                <a:uFillTx/>
                <a:latin typeface="Calibri"/>
                <a:ea typeface="Calibri"/>
              </a:rPr>
              <a:t>Budget Check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731520" y="393192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The budget limit cannot be negative.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4686480" y="3154680"/>
            <a:ext cx="390888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4869360" y="3337560"/>
            <a:ext cx="456840" cy="63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4869360" y="3474720"/>
            <a:ext cx="3543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b7185"/>
                </a:solidFill>
                <a:uFillTx/>
                <a:latin typeface="Calibri"/>
                <a:ea typeface="Calibri"/>
              </a:rPr>
              <a:t>Safe Delete</a:t>
            </a:r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4869360" y="3931920"/>
            <a:ext cx="354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An index that does not exist shows an error, no crash.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7589520" y="-822960"/>
            <a:ext cx="2194200" cy="2194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48640" y="274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09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548640" y="5943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Live Test Commands</a:t>
            </a:r>
            <a:endParaRPr b="0" lang="en-US" sz="30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548640" y="1261800"/>
            <a:ext cx="822600" cy="5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548640" y="16002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1  Set budget limit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548640" y="1901880"/>
            <a:ext cx="8046360" cy="383760"/>
          </a:xfrm>
          <a:prstGeom prst="roundRect">
            <a:avLst>
              <a:gd name="adj" fmla="val 14286"/>
            </a:avLst>
          </a:prstGeom>
          <a:solidFill>
            <a:srgbClr val="020617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731520" y="1901880"/>
            <a:ext cx="7680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dd4bf"/>
                </a:solidFill>
                <a:uFillTx/>
                <a:latin typeface="Consolas"/>
                <a:ea typeface="Consolas"/>
              </a:rPr>
              <a:t>$ python cli.py set-budget --limit 1500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548640" y="242316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2  Add an income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548640" y="2724840"/>
            <a:ext cx="8046360" cy="383760"/>
          </a:xfrm>
          <a:prstGeom prst="roundRect">
            <a:avLst>
              <a:gd name="adj" fmla="val 14286"/>
            </a:avLst>
          </a:prstGeom>
          <a:solidFill>
            <a:srgbClr val="020617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731520" y="2724840"/>
            <a:ext cx="7680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dd4bf"/>
                </a:solidFill>
                <a:uFillTx/>
                <a:latin typeface="Consolas"/>
                <a:ea typeface="Consolas"/>
              </a:rPr>
              <a:t>$ python cli.py add-income --source Salary --amount 2000 --date 14/10/2026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548640" y="32461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3  Add an expense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548640" y="3547800"/>
            <a:ext cx="8046360" cy="383760"/>
          </a:xfrm>
          <a:prstGeom prst="roundRect">
            <a:avLst>
              <a:gd name="adj" fmla="val 14286"/>
            </a:avLst>
          </a:prstGeom>
          <a:solidFill>
            <a:srgbClr val="020617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731520" y="3547800"/>
            <a:ext cx="7680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dd4bf"/>
                </a:solidFill>
                <a:uFillTx/>
                <a:latin typeface="Consolas"/>
                <a:ea typeface="Consolas"/>
              </a:rPr>
              <a:t>$ python cli.py add-expense --category Food --amount 75 --date 14/10/2026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548640" y="40690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4  View the report</a:t>
            </a:r>
            <a:endParaRPr b="0" lang="en-US" sz="1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548640" y="4370760"/>
            <a:ext cx="8046360" cy="383760"/>
          </a:xfrm>
          <a:prstGeom prst="roundRect">
            <a:avLst>
              <a:gd name="adj" fmla="val 14286"/>
            </a:avLst>
          </a:prstGeom>
          <a:solidFill>
            <a:srgbClr val="020617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731520" y="4370760"/>
            <a:ext cx="7680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dd4bf"/>
                </a:solidFill>
                <a:uFillTx/>
                <a:latin typeface="Consolas"/>
                <a:ea typeface="Consolas"/>
              </a:rPr>
              <a:t>$ python cli.py report</a:t>
            </a:r>
            <a:endParaRPr b="0" lang="en-US" sz="125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6035040" y="-1097280"/>
            <a:ext cx="4571640" cy="4571640"/>
          </a:xfrm>
          <a:prstGeom prst="ellipse">
            <a:avLst/>
          </a:prstGeom>
          <a:solidFill>
            <a:srgbClr val="2dd4bf">
              <a:alpha val="15000"/>
            </a:srgbClr>
          </a:solidFill>
          <a:ln w="12700">
            <a:solidFill>
              <a:srgbClr val="2dd4b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7315200" y="2377440"/>
            <a:ext cx="3108600" cy="3108600"/>
          </a:xfrm>
          <a:prstGeom prst="ellipse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Lateef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640080" y="73152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Thank You!</a:t>
            </a:r>
            <a:endParaRPr b="0" lang="en-US" sz="44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640080" y="16916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dd4bf"/>
                </a:solidFill>
                <a:uFillTx/>
                <a:latin typeface="Calibri"/>
                <a:ea typeface="Calibri"/>
              </a:rPr>
              <a:t>Simple to use  ·  Safe with your data  ·  Helps control your spending</a:t>
            </a:r>
            <a:endParaRPr b="0" lang="en-US" sz="16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640080" y="2560320"/>
            <a:ext cx="5120280" cy="173700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868680" y="26974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bbf24"/>
                </a:solidFill>
                <a:uFillTx/>
                <a:latin typeface="Calibri"/>
                <a:ea typeface="Calibri"/>
              </a:rPr>
              <a:t>Group: Financial Automations Team</a:t>
            </a:r>
            <a:endParaRPr b="0" lang="en-US" sz="17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868680" y="315468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Omar Hamad  (ID: 220911309)</a:t>
            </a:r>
            <a:endParaRPr b="0" lang="en-US" sz="1600" strike="noStrike" u="none">
              <a:solidFill>
                <a:srgbClr val="ffffff"/>
              </a:solidFill>
              <a:uFillTx/>
              <a:latin typeface="Lateef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f8fafc"/>
                </a:solidFill>
                <a:uFillTx/>
                <a:latin typeface="Calibri"/>
                <a:ea typeface="Calibri"/>
              </a:rPr>
              <a:t>Loay Saleh  (ID: 220901438)</a:t>
            </a:r>
            <a:endParaRPr b="0" lang="en-US" sz="1600" strike="noStrike" u="none">
              <a:solidFill>
                <a:srgbClr val="ffffff"/>
              </a:solidFill>
              <a:uFillTx/>
              <a:latin typeface="Latee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2026-10-14T10:10:03Z</dcterms:created>
  <dc:creator>PptxGenJS</dc:creator>
  <dc:description/>
  <dc:language>ar-QA</dc:language>
  <cp:lastModifiedBy>Loay SALEH</cp:lastModifiedBy>
  <dcterms:modified xsi:type="dcterms:W3CDTF">2026-10-14T10:23:15Z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